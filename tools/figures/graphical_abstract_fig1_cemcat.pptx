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4708"/>
    <a:srgbClr val="1088D1"/>
    <a:srgbClr val="66BB69"/>
    <a:srgbClr val="673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703"/>
  </p:normalViewPr>
  <p:slideViewPr>
    <p:cSldViewPr snapToGrid="0">
      <p:cViewPr>
        <p:scale>
          <a:sx n="105" d="100"/>
          <a:sy n="105" d="100"/>
        </p:scale>
        <p:origin x="1032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974D7-39A0-5201-6EA3-55DFA93317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C1BF5C-040C-E5E4-3492-240838681D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8F75A-B094-89AF-F71C-224AB9409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94735-5C29-4447-9B24-9F618C95519F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C65DB-A9A6-E5AC-2211-44F5E68AD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04B12-F32A-B474-CFB5-A16F2D688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827C-2BFF-964F-89C4-5AA5C75E4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65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C02FA-9A8E-517D-30F1-72D282286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6F953-8525-78DD-9920-946020C51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6D005-55C7-F4E2-3CE3-DBFFF87DF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94735-5C29-4447-9B24-9F618C95519F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74122-9A9B-912F-9208-5100A80C3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CFDEE-55C7-A311-AE78-76A8F72A0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827C-2BFF-964F-89C4-5AA5C75E4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58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D2BB2-4F38-4BFF-3386-0F0FF7151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C3077C-843E-2761-8969-8B8C8A842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AEF52-C124-6DEB-1B00-7CC629C3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94735-5C29-4447-9B24-9F618C95519F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8BE12-8D89-8048-D51D-049937EA3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465F0-E0ED-F54D-7578-2DE7BBA14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827C-2BFF-964F-89C4-5AA5C75E4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051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E626A-1279-A919-B4C3-01EC8D779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C1413-266B-AA7B-F2F4-EF3D1F7B92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737EA-ED23-F64F-93A9-F95812480D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8CA1F6-4F7D-E00E-DF8B-A608C643D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94735-5C29-4447-9B24-9F618C95519F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5CDD1-CB97-EBD5-CB52-22012DDAB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EFFB9-FD1D-C9EC-3D6F-378B223C3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827C-2BFF-964F-89C4-5AA5C75E4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093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9421B-BB65-C27C-8EA7-53D9814FC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FA681-F3B8-6D31-5E87-E62B20B2D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E4C212-D947-71BC-AFA9-71320739A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6D39B7-E24E-4A14-7A78-CAEF84CE09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11D1C5-2B3E-659A-16D0-750D70B830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C7CAF5-C4A2-D64C-6957-BC89C0452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94735-5C29-4447-9B24-9F618C95519F}" type="datetimeFigureOut">
              <a:rPr lang="en-US" smtClean="0"/>
              <a:t>3/15/26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1FCA8F-78BF-1EC5-8F8C-C7EA95A91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37FA15-4A8C-8CB1-5350-6267C76CE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827C-2BFF-964F-89C4-5AA5C75E4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880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0351D-6C50-D536-64A4-E3B6E830A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28DA92-D788-A272-6022-6EE8ED0EB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94735-5C29-4447-9B24-9F618C95519F}" type="datetimeFigureOut">
              <a:rPr lang="en-US" smtClean="0"/>
              <a:t>3/15/26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83E80A-3AE8-E309-73EA-1AA6F3CB0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59A5B2-55FE-B140-356E-90CFA35F6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827C-2BFF-964F-89C4-5AA5C75E4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12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5553E0-2D16-F76E-12EE-15E4B77A5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94735-5C29-4447-9B24-9F618C95519F}" type="datetimeFigureOut">
              <a:rPr lang="en-US" smtClean="0"/>
              <a:t>3/15/26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369422-F41C-566C-66FF-1F4217249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46B88-A54E-ACB4-94BA-8BCAE1C17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827C-2BFF-964F-89C4-5AA5C75E4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21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58179-40C6-EE86-0AF8-FADB41629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D5DB3-5145-8512-968B-71013790E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B3547C-A9F6-63BF-4C89-7DC875BB5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BC982-5994-965A-F359-61A20FE0B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94735-5C29-4447-9B24-9F618C95519F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6B13BC-FF6B-1A4E-A9AE-977513A63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FBD5D9-22B5-A74F-C85F-F4A19A3E1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827C-2BFF-964F-89C4-5AA5C75E4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966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E93C0-420C-C350-0EC2-DAD254A56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BADE0E-0A34-3AAB-F081-A6D67C81E2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179D93-8467-86CC-B493-8881E67B3C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E43BC1-2122-CB30-AC43-BA96C9C1F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94735-5C29-4447-9B24-9F618C95519F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DDD25-FBFA-C6CD-AD76-4F6974FB1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6366E-EC0A-CFFB-7D45-D3E93E87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827C-2BFF-964F-89C4-5AA5C75E4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520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26F93-540B-0C8C-ADAE-F7A563E39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3E2061-6B85-D125-1B93-ACE21EFA6C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B2A14-3BB8-6D77-5568-5F0118F0B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94735-5C29-4447-9B24-9F618C95519F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2191D-48ED-D964-11EB-5C83031C9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410B0-F40E-3610-CDA2-1FECE22F5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827C-2BFF-964F-89C4-5AA5C75E4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310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D643B8-E8A9-F5FB-17BD-CF5FCAF3F6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F1E8EB-B169-E481-C422-CEC76D2F4C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EDD86-A038-D77E-ECB0-CEB264C57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94735-5C29-4447-9B24-9F618C95519F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90A7A-9FCD-C62D-67DE-C3ADA8023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97C1B-DE2D-4A93-F706-07F0672FB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827C-2BFF-964F-89C4-5AA5C75E4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89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FF4C98-969B-55BE-D118-5BD82FF2C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651E9-AF84-9326-DE70-380E93FBD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6DC42-766C-6820-1813-C4C5658B07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894735-5C29-4447-9B24-9F618C95519F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16829-F64C-1CEF-B909-224EC4629D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1AA3A-CFFA-C4D1-856B-EBB62A71C7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CE827C-2BFF-964F-89C4-5AA5C75E4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151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2.svg"/><Relationship Id="rId7" Type="http://schemas.openxmlformats.org/officeDocument/2006/relationships/image" Target="../media/image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svg"/><Relationship Id="rId7" Type="http://schemas.openxmlformats.org/officeDocument/2006/relationships/image" Target="../media/image18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emf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121B6D34-BED9-8EA7-4FB8-26A1C9E0A089}"/>
              </a:ext>
            </a:extLst>
          </p:cNvPr>
          <p:cNvGrpSpPr/>
          <p:nvPr/>
        </p:nvGrpSpPr>
        <p:grpSpPr>
          <a:xfrm>
            <a:off x="3009162" y="94129"/>
            <a:ext cx="6669742" cy="6669742"/>
            <a:chOff x="3009162" y="94129"/>
            <a:chExt cx="6669742" cy="6669742"/>
          </a:xfrm>
        </p:grpSpPr>
        <p:pic>
          <p:nvPicPr>
            <p:cNvPr id="5" name="Graphic 4" descr="Left Brain outline">
              <a:extLst>
                <a:ext uri="{FF2B5EF4-FFF2-40B4-BE49-F238E27FC236}">
                  <a16:creationId xmlns:a16="http://schemas.microsoft.com/office/drawing/2014/main" id="{DEDD9E6B-D345-13E5-B238-F5E1F6D61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09162" y="94129"/>
              <a:ext cx="6669742" cy="6669742"/>
            </a:xfrm>
            <a:prstGeom prst="rect">
              <a:avLst/>
            </a:prstGeom>
          </p:spPr>
        </p:pic>
        <p:pic>
          <p:nvPicPr>
            <p:cNvPr id="7" name="Graphic 6" descr="Sustainability with solid fill">
              <a:extLst>
                <a:ext uri="{FF2B5EF4-FFF2-40B4-BE49-F238E27FC236}">
                  <a16:creationId xmlns:a16="http://schemas.microsoft.com/office/drawing/2014/main" id="{6C761DEB-AC0E-7A7A-01A5-D955F0662C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121344" y="1787432"/>
              <a:ext cx="914400" cy="914400"/>
            </a:xfrm>
            <a:prstGeom prst="rect">
              <a:avLst/>
            </a:prstGeom>
          </p:spPr>
        </p:pic>
        <p:pic>
          <p:nvPicPr>
            <p:cNvPr id="11" name="Graphic 10" descr="Cement truck with solid fill">
              <a:extLst>
                <a:ext uri="{FF2B5EF4-FFF2-40B4-BE49-F238E27FC236}">
                  <a16:creationId xmlns:a16="http://schemas.microsoft.com/office/drawing/2014/main" id="{A5C35CC6-121A-68B5-E363-DE92D4608E0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411027" y="2580651"/>
              <a:ext cx="914400" cy="914400"/>
            </a:xfrm>
            <a:prstGeom prst="rect">
              <a:avLst/>
            </a:prstGeom>
          </p:spPr>
        </p:pic>
        <p:pic>
          <p:nvPicPr>
            <p:cNvPr id="15" name="Graphic 14" descr="Raw Materials with solid fill">
              <a:extLst>
                <a:ext uri="{FF2B5EF4-FFF2-40B4-BE49-F238E27FC236}">
                  <a16:creationId xmlns:a16="http://schemas.microsoft.com/office/drawing/2014/main" id="{AF258539-9274-F2AC-2E78-1B7C5E321CA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042006" y="4215061"/>
              <a:ext cx="914400" cy="91440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0DCC537-1A83-9E44-C4A6-A0CC5C06E1F1}"/>
                </a:ext>
              </a:extLst>
            </p:cNvPr>
            <p:cNvSpPr txBox="1"/>
            <p:nvPr/>
          </p:nvSpPr>
          <p:spPr>
            <a:xfrm>
              <a:off x="6701796" y="1305341"/>
              <a:ext cx="419548" cy="42473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700" b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  <a:p>
              <a:r>
                <a:rPr lang="en-US" sz="2700" b="1" dirty="0"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  <a:p>
              <a:r>
                <a:rPr lang="en-US" sz="2700" b="1" dirty="0">
                  <a:latin typeface="Arial" panose="020B0604020202020204" pitchFamily="34" charset="0"/>
                  <a:cs typeface="Arial" panose="020B0604020202020204" pitchFamily="34" charset="0"/>
                </a:rPr>
                <a:t>m</a:t>
              </a:r>
            </a:p>
            <a:p>
              <a:r>
                <a:rPr lang="en-US" sz="2700" b="1" dirty="0">
                  <a:latin typeface="Arial" panose="020B0604020202020204" pitchFamily="34" charset="0"/>
                  <a:cs typeface="Arial" panose="020B0604020202020204" pitchFamily="34" charset="0"/>
                </a:rPr>
                <a:t>Sc</a:t>
              </a:r>
            </a:p>
            <a:p>
              <a:r>
                <a:rPr lang="en-US" sz="27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n-US" sz="2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700" b="1" dirty="0">
                  <a:latin typeface="Arial" panose="020B0604020202020204" pitchFamily="34" charset="0"/>
                  <a:cs typeface="Arial" panose="020B0604020202020204" pitchFamily="34" charset="0"/>
                </a:rPr>
                <a:t>BERT</a:t>
              </a:r>
            </a:p>
          </p:txBody>
        </p:sp>
        <p:pic>
          <p:nvPicPr>
            <p:cNvPr id="24" name="Graphic 23" descr="Production with solid fill">
              <a:extLst>
                <a:ext uri="{FF2B5EF4-FFF2-40B4-BE49-F238E27FC236}">
                  <a16:creationId xmlns:a16="http://schemas.microsoft.com/office/drawing/2014/main" id="{7C65548C-BF87-1EF6-3FD2-734C49685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557028" y="3468831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65321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D8ECE-7A25-8AFC-23AD-78F7D5343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211F66F5-99D2-6EA1-48B3-973BDC7B220E}"/>
              </a:ext>
            </a:extLst>
          </p:cNvPr>
          <p:cNvGrpSpPr/>
          <p:nvPr/>
        </p:nvGrpSpPr>
        <p:grpSpPr>
          <a:xfrm>
            <a:off x="3009162" y="94129"/>
            <a:ext cx="6669742" cy="6669742"/>
            <a:chOff x="3009162" y="94129"/>
            <a:chExt cx="6669742" cy="6669742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163AB75D-311D-5936-D203-3D9D23AFE7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009162" y="94129"/>
              <a:ext cx="6669742" cy="6669742"/>
            </a:xfrm>
            <a:prstGeom prst="rect">
              <a:avLst/>
            </a:prstGeom>
          </p:spPr>
        </p:pic>
        <p:pic>
          <p:nvPicPr>
            <p:cNvPr id="7" name="Graphic 6" descr="Sustainability with solid fill">
              <a:extLst>
                <a:ext uri="{FF2B5EF4-FFF2-40B4-BE49-F238E27FC236}">
                  <a16:creationId xmlns:a16="http://schemas.microsoft.com/office/drawing/2014/main" id="{402EA0D6-D294-6C6F-30FD-2A9C645E11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121344" y="1787432"/>
              <a:ext cx="914400" cy="914400"/>
            </a:xfrm>
            <a:prstGeom prst="rect">
              <a:avLst/>
            </a:prstGeom>
          </p:spPr>
        </p:pic>
        <p:pic>
          <p:nvPicPr>
            <p:cNvPr id="11" name="Graphic 10" descr="Cement truck with solid fill">
              <a:extLst>
                <a:ext uri="{FF2B5EF4-FFF2-40B4-BE49-F238E27FC236}">
                  <a16:creationId xmlns:a16="http://schemas.microsoft.com/office/drawing/2014/main" id="{E902B29C-BC14-11D3-26F3-BE6490B79B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411027" y="2580651"/>
              <a:ext cx="914400" cy="914400"/>
            </a:xfrm>
            <a:prstGeom prst="rect">
              <a:avLst/>
            </a:prstGeom>
          </p:spPr>
        </p:pic>
        <p:pic>
          <p:nvPicPr>
            <p:cNvPr id="15" name="Graphic 14" descr="Raw Materials with solid fill">
              <a:extLst>
                <a:ext uri="{FF2B5EF4-FFF2-40B4-BE49-F238E27FC236}">
                  <a16:creationId xmlns:a16="http://schemas.microsoft.com/office/drawing/2014/main" id="{E9AA80CC-D017-068D-4319-C807ED0B0D6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042006" y="4215061"/>
              <a:ext cx="914400" cy="91440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C40C24E-BBE5-CD15-ABA9-7DFF0D28EEBF}"/>
                </a:ext>
              </a:extLst>
            </p:cNvPr>
            <p:cNvSpPr txBox="1"/>
            <p:nvPr/>
          </p:nvSpPr>
          <p:spPr>
            <a:xfrm>
              <a:off x="6701796" y="1305341"/>
              <a:ext cx="419548" cy="42473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700" b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  <a:p>
              <a:r>
                <a:rPr lang="en-US" sz="2700" b="1" dirty="0"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  <a:p>
              <a:r>
                <a:rPr lang="en-US" sz="2700" b="1" dirty="0">
                  <a:latin typeface="Arial" panose="020B0604020202020204" pitchFamily="34" charset="0"/>
                  <a:cs typeface="Arial" panose="020B0604020202020204" pitchFamily="34" charset="0"/>
                </a:rPr>
                <a:t>m</a:t>
              </a:r>
            </a:p>
            <a:p>
              <a:r>
                <a:rPr lang="en-US" sz="2700" b="1" dirty="0">
                  <a:latin typeface="Arial" panose="020B0604020202020204" pitchFamily="34" charset="0"/>
                  <a:cs typeface="Arial" panose="020B0604020202020204" pitchFamily="34" charset="0"/>
                </a:rPr>
                <a:t>Sc</a:t>
              </a:r>
            </a:p>
            <a:p>
              <a:r>
                <a:rPr lang="en-US" sz="27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n-US" sz="2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700" b="1" dirty="0">
                  <a:latin typeface="Arial" panose="020B0604020202020204" pitchFamily="34" charset="0"/>
                  <a:cs typeface="Arial" panose="020B0604020202020204" pitchFamily="34" charset="0"/>
                </a:rPr>
                <a:t>BERT</a:t>
              </a:r>
            </a:p>
          </p:txBody>
        </p:sp>
        <p:pic>
          <p:nvPicPr>
            <p:cNvPr id="24" name="Graphic 23" descr="Production with solid fill">
              <a:extLst>
                <a:ext uri="{FF2B5EF4-FFF2-40B4-BE49-F238E27FC236}">
                  <a16:creationId xmlns:a16="http://schemas.microsoft.com/office/drawing/2014/main" id="{3A184418-4C81-E6FE-F479-E397FE877D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557028" y="3468831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39637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70D71307-E6D4-BF9B-1284-B34FD0DFDF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95841" y="1421955"/>
            <a:ext cx="1636638" cy="1058359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551C74B-3521-8442-2CB6-4928E09A96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26609" y="1421956"/>
            <a:ext cx="956932" cy="105835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AC61FA2-D606-AFC5-4D94-3C98D36F5641}"/>
              </a:ext>
            </a:extLst>
          </p:cNvPr>
          <p:cNvSpPr txBox="1"/>
          <p:nvPr/>
        </p:nvSpPr>
        <p:spPr>
          <a:xfrm>
            <a:off x="3006232" y="2703755"/>
            <a:ext cx="2677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CemCorpus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F61C8704-80CF-6FC3-2B1C-0892779879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187" y="853199"/>
            <a:ext cx="2203898" cy="2199534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DDB500D4-075B-0B62-B40E-88F032791775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6396168" y="853199"/>
            <a:ext cx="2203200" cy="2203200"/>
          </a:xfrm>
          <a:prstGeom prst="rect">
            <a:avLst/>
          </a:prstGeom>
        </p:spPr>
      </p:pic>
      <p:sp>
        <p:nvSpPr>
          <p:cNvPr id="55" name="Cross 54">
            <a:extLst>
              <a:ext uri="{FF2B5EF4-FFF2-40B4-BE49-F238E27FC236}">
                <a16:creationId xmlns:a16="http://schemas.microsoft.com/office/drawing/2014/main" id="{7A77D787-F7F1-0F38-037B-A749AF835597}"/>
              </a:ext>
            </a:extLst>
          </p:cNvPr>
          <p:cNvSpPr/>
          <p:nvPr/>
        </p:nvSpPr>
        <p:spPr>
          <a:xfrm>
            <a:off x="2219173" y="1681133"/>
            <a:ext cx="540000" cy="540000"/>
          </a:xfrm>
          <a:prstGeom prst="plus">
            <a:avLst>
              <a:gd name="adj" fmla="val 40052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FECDDC3-84FA-691F-8B70-8B33970DB8C8}"/>
              </a:ext>
            </a:extLst>
          </p:cNvPr>
          <p:cNvSpPr/>
          <p:nvPr/>
        </p:nvSpPr>
        <p:spPr>
          <a:xfrm>
            <a:off x="2959273" y="1298317"/>
            <a:ext cx="2764908" cy="12806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ight Arrow 56">
            <a:extLst>
              <a:ext uri="{FF2B5EF4-FFF2-40B4-BE49-F238E27FC236}">
                <a16:creationId xmlns:a16="http://schemas.microsoft.com/office/drawing/2014/main" id="{7766C37C-7E97-47CC-4141-3EA490AF9D2C}"/>
              </a:ext>
            </a:extLst>
          </p:cNvPr>
          <p:cNvSpPr/>
          <p:nvPr/>
        </p:nvSpPr>
        <p:spPr>
          <a:xfrm>
            <a:off x="5848702" y="1852828"/>
            <a:ext cx="421330" cy="196611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8" name="Freeform 2057">
            <a:extLst>
              <a:ext uri="{FF2B5EF4-FFF2-40B4-BE49-F238E27FC236}">
                <a16:creationId xmlns:a16="http://schemas.microsoft.com/office/drawing/2014/main" id="{398CB508-5C2F-6C6A-C02A-4D48406C8689}"/>
              </a:ext>
            </a:extLst>
          </p:cNvPr>
          <p:cNvSpPr/>
          <p:nvPr/>
        </p:nvSpPr>
        <p:spPr>
          <a:xfrm rot="16200000">
            <a:off x="8237118" y="1536688"/>
            <a:ext cx="1390668" cy="1035815"/>
          </a:xfrm>
          <a:custGeom>
            <a:avLst/>
            <a:gdLst>
              <a:gd name="connsiteX0" fmla="*/ 1390668 w 1390668"/>
              <a:gd name="connsiteY0" fmla="*/ 931268 h 1035815"/>
              <a:gd name="connsiteX1" fmla="*/ 1286121 w 1390668"/>
              <a:gd name="connsiteY1" fmla="*/ 1035815 h 1035815"/>
              <a:gd name="connsiteX2" fmla="*/ 1181574 w 1390668"/>
              <a:gd name="connsiteY2" fmla="*/ 931268 h 1035815"/>
              <a:gd name="connsiteX3" fmla="*/ 1233847 w 1390668"/>
              <a:gd name="connsiteY3" fmla="*/ 931268 h 1035815"/>
              <a:gd name="connsiteX4" fmla="*/ 1233847 w 1390668"/>
              <a:gd name="connsiteY4" fmla="*/ 245784 h 1035815"/>
              <a:gd name="connsiteX5" fmla="*/ 156820 w 1390668"/>
              <a:gd name="connsiteY5" fmla="*/ 245784 h 1035815"/>
              <a:gd name="connsiteX6" fmla="*/ 156820 w 1390668"/>
              <a:gd name="connsiteY6" fmla="*/ 931268 h 1035815"/>
              <a:gd name="connsiteX7" fmla="*/ 209094 w 1390668"/>
              <a:gd name="connsiteY7" fmla="*/ 931268 h 1035815"/>
              <a:gd name="connsiteX8" fmla="*/ 104547 w 1390668"/>
              <a:gd name="connsiteY8" fmla="*/ 1035815 h 1035815"/>
              <a:gd name="connsiteX9" fmla="*/ 0 w 1390668"/>
              <a:gd name="connsiteY9" fmla="*/ 931268 h 1035815"/>
              <a:gd name="connsiteX10" fmla="*/ 52273 w 1390668"/>
              <a:gd name="connsiteY10" fmla="*/ 931268 h 1035815"/>
              <a:gd name="connsiteX11" fmla="*/ 52273 w 1390668"/>
              <a:gd name="connsiteY11" fmla="*/ 155396 h 1035815"/>
              <a:gd name="connsiteX12" fmla="*/ 54534 w 1390668"/>
              <a:gd name="connsiteY12" fmla="*/ 155396 h 1035815"/>
              <a:gd name="connsiteX13" fmla="*/ 156820 w 1390668"/>
              <a:gd name="connsiteY13" fmla="*/ 155396 h 1035815"/>
              <a:gd name="connsiteX14" fmla="*/ 656356 w 1390668"/>
              <a:gd name="connsiteY14" fmla="*/ 155396 h 1035815"/>
              <a:gd name="connsiteX15" fmla="*/ 656356 w 1390668"/>
              <a:gd name="connsiteY15" fmla="*/ 0 h 1035815"/>
              <a:gd name="connsiteX16" fmla="*/ 746744 w 1390668"/>
              <a:gd name="connsiteY16" fmla="*/ 0 h 1035815"/>
              <a:gd name="connsiteX17" fmla="*/ 746744 w 1390668"/>
              <a:gd name="connsiteY17" fmla="*/ 155396 h 1035815"/>
              <a:gd name="connsiteX18" fmla="*/ 1233847 w 1390668"/>
              <a:gd name="connsiteY18" fmla="*/ 155396 h 1035815"/>
              <a:gd name="connsiteX19" fmla="*/ 1336134 w 1390668"/>
              <a:gd name="connsiteY19" fmla="*/ 155396 h 1035815"/>
              <a:gd name="connsiteX20" fmla="*/ 1338394 w 1390668"/>
              <a:gd name="connsiteY20" fmla="*/ 155396 h 1035815"/>
              <a:gd name="connsiteX21" fmla="*/ 1338394 w 1390668"/>
              <a:gd name="connsiteY21" fmla="*/ 931268 h 1035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390668" h="1035815">
                <a:moveTo>
                  <a:pt x="1390668" y="931268"/>
                </a:moveTo>
                <a:lnTo>
                  <a:pt x="1286121" y="1035815"/>
                </a:lnTo>
                <a:lnTo>
                  <a:pt x="1181574" y="931268"/>
                </a:lnTo>
                <a:lnTo>
                  <a:pt x="1233847" y="931268"/>
                </a:lnTo>
                <a:lnTo>
                  <a:pt x="1233847" y="245784"/>
                </a:lnTo>
                <a:lnTo>
                  <a:pt x="156820" y="245784"/>
                </a:lnTo>
                <a:lnTo>
                  <a:pt x="156820" y="931268"/>
                </a:lnTo>
                <a:lnTo>
                  <a:pt x="209094" y="931268"/>
                </a:lnTo>
                <a:lnTo>
                  <a:pt x="104547" y="1035815"/>
                </a:lnTo>
                <a:lnTo>
                  <a:pt x="0" y="931268"/>
                </a:lnTo>
                <a:lnTo>
                  <a:pt x="52273" y="931268"/>
                </a:lnTo>
                <a:lnTo>
                  <a:pt x="52273" y="155396"/>
                </a:lnTo>
                <a:lnTo>
                  <a:pt x="54534" y="155396"/>
                </a:lnTo>
                <a:lnTo>
                  <a:pt x="156820" y="155396"/>
                </a:lnTo>
                <a:lnTo>
                  <a:pt x="656356" y="155396"/>
                </a:lnTo>
                <a:lnTo>
                  <a:pt x="656356" y="0"/>
                </a:lnTo>
                <a:lnTo>
                  <a:pt x="746744" y="0"/>
                </a:lnTo>
                <a:lnTo>
                  <a:pt x="746744" y="155396"/>
                </a:lnTo>
                <a:lnTo>
                  <a:pt x="1233847" y="155396"/>
                </a:lnTo>
                <a:lnTo>
                  <a:pt x="1336134" y="155396"/>
                </a:lnTo>
                <a:lnTo>
                  <a:pt x="1338394" y="155396"/>
                </a:lnTo>
                <a:lnTo>
                  <a:pt x="1338394" y="931268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59" name="TextBox 2058">
            <a:extLst>
              <a:ext uri="{FF2B5EF4-FFF2-40B4-BE49-F238E27FC236}">
                <a16:creationId xmlns:a16="http://schemas.microsoft.com/office/drawing/2014/main" id="{C6F4BE19-D468-8EBF-D41B-423707FEDC85}"/>
              </a:ext>
            </a:extLst>
          </p:cNvPr>
          <p:cNvSpPr txBox="1"/>
          <p:nvPr/>
        </p:nvSpPr>
        <p:spPr>
          <a:xfrm>
            <a:off x="9278066" y="1882179"/>
            <a:ext cx="2828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Downstream tasks</a:t>
            </a:r>
          </a:p>
        </p:txBody>
      </p:sp>
      <p:sp>
        <p:nvSpPr>
          <p:cNvPr id="2060" name="TextBox 2059">
            <a:extLst>
              <a:ext uri="{FF2B5EF4-FFF2-40B4-BE49-F238E27FC236}">
                <a16:creationId xmlns:a16="http://schemas.microsoft.com/office/drawing/2014/main" id="{A5FBA6F1-731D-869A-55A6-C2D5798AC097}"/>
              </a:ext>
            </a:extLst>
          </p:cNvPr>
          <p:cNvSpPr txBox="1"/>
          <p:nvPr/>
        </p:nvSpPr>
        <p:spPr>
          <a:xfrm>
            <a:off x="9450360" y="1144530"/>
            <a:ext cx="2484089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Named entity recognition</a:t>
            </a:r>
          </a:p>
        </p:txBody>
      </p:sp>
      <p:sp>
        <p:nvSpPr>
          <p:cNvPr id="2061" name="TextBox 2060">
            <a:extLst>
              <a:ext uri="{FF2B5EF4-FFF2-40B4-BE49-F238E27FC236}">
                <a16:creationId xmlns:a16="http://schemas.microsoft.com/office/drawing/2014/main" id="{2DDDE118-79B1-3029-BF19-DE9E4E8A771C}"/>
              </a:ext>
            </a:extLst>
          </p:cNvPr>
          <p:cNvSpPr txBox="1"/>
          <p:nvPr/>
        </p:nvSpPr>
        <p:spPr>
          <a:xfrm>
            <a:off x="9450360" y="2426655"/>
            <a:ext cx="2484089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Table classification</a:t>
            </a:r>
          </a:p>
        </p:txBody>
      </p:sp>
      <p:cxnSp>
        <p:nvCxnSpPr>
          <p:cNvPr id="2065" name="Elbow Connector 2064">
            <a:extLst>
              <a:ext uri="{FF2B5EF4-FFF2-40B4-BE49-F238E27FC236}">
                <a16:creationId xmlns:a16="http://schemas.microsoft.com/office/drawing/2014/main" id="{69D9498A-D495-8594-FD41-5489D08882DA}"/>
              </a:ext>
            </a:extLst>
          </p:cNvPr>
          <p:cNvCxnSpPr>
            <a:cxnSpLocks/>
            <a:stCxn id="2061" idx="2"/>
            <a:endCxn id="2071" idx="0"/>
          </p:cNvCxnSpPr>
          <p:nvPr/>
        </p:nvCxnSpPr>
        <p:spPr>
          <a:xfrm rot="5400000">
            <a:off x="6115803" y="-1067859"/>
            <a:ext cx="712756" cy="844044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66" name="TextBox 2065">
            <a:extLst>
              <a:ext uri="{FF2B5EF4-FFF2-40B4-BE49-F238E27FC236}">
                <a16:creationId xmlns:a16="http://schemas.microsoft.com/office/drawing/2014/main" id="{52B65522-72CC-B4F0-F8E4-5294DDD68941}"/>
              </a:ext>
            </a:extLst>
          </p:cNvPr>
          <p:cNvSpPr txBox="1"/>
          <p:nvPr/>
        </p:nvSpPr>
        <p:spPr>
          <a:xfrm>
            <a:off x="275084" y="3627587"/>
            <a:ext cx="1828887" cy="92333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Mineralogical composition tables</a:t>
            </a:r>
          </a:p>
        </p:txBody>
      </p:sp>
      <p:sp>
        <p:nvSpPr>
          <p:cNvPr id="2068" name="TextBox 2067">
            <a:extLst>
              <a:ext uri="{FF2B5EF4-FFF2-40B4-BE49-F238E27FC236}">
                <a16:creationId xmlns:a16="http://schemas.microsoft.com/office/drawing/2014/main" id="{09B46760-B857-E93D-022E-22B657FBFD74}"/>
              </a:ext>
            </a:extLst>
          </p:cNvPr>
          <p:cNvSpPr txBox="1"/>
          <p:nvPr/>
        </p:nvSpPr>
        <p:spPr>
          <a:xfrm>
            <a:off x="477768" y="4790080"/>
            <a:ext cx="1435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GPT-4</a:t>
            </a:r>
          </a:p>
        </p:txBody>
      </p:sp>
      <p:sp>
        <p:nvSpPr>
          <p:cNvPr id="2069" name="TextBox 2068">
            <a:extLst>
              <a:ext uri="{FF2B5EF4-FFF2-40B4-BE49-F238E27FC236}">
                <a16:creationId xmlns:a16="http://schemas.microsoft.com/office/drawing/2014/main" id="{ABFEF01C-1A04-DE3F-188B-316E514080B9}"/>
              </a:ext>
            </a:extLst>
          </p:cNvPr>
          <p:cNvSpPr txBox="1"/>
          <p:nvPr/>
        </p:nvSpPr>
        <p:spPr>
          <a:xfrm>
            <a:off x="2366085" y="3627587"/>
            <a:ext cx="1828887" cy="92333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Oxide composition tables</a:t>
            </a:r>
          </a:p>
        </p:txBody>
      </p:sp>
      <p:sp>
        <p:nvSpPr>
          <p:cNvPr id="2070" name="TextBox 2069">
            <a:extLst>
              <a:ext uri="{FF2B5EF4-FFF2-40B4-BE49-F238E27FC236}">
                <a16:creationId xmlns:a16="http://schemas.microsoft.com/office/drawing/2014/main" id="{E8006D26-F090-F5CD-6C29-6BC55881D3E3}"/>
              </a:ext>
            </a:extLst>
          </p:cNvPr>
          <p:cNvSpPr txBox="1"/>
          <p:nvPr/>
        </p:nvSpPr>
        <p:spPr>
          <a:xfrm>
            <a:off x="2562629" y="4790080"/>
            <a:ext cx="1435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DiSCoMaT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71" name="Rounded Rectangle 2070">
            <a:extLst>
              <a:ext uri="{FF2B5EF4-FFF2-40B4-BE49-F238E27FC236}">
                <a16:creationId xmlns:a16="http://schemas.microsoft.com/office/drawing/2014/main" id="{82C9CB52-749A-1F21-03D1-2C27E8874CA9}"/>
              </a:ext>
            </a:extLst>
          </p:cNvPr>
          <p:cNvSpPr/>
          <p:nvPr/>
        </p:nvSpPr>
        <p:spPr>
          <a:xfrm>
            <a:off x="162187" y="3508743"/>
            <a:ext cx="4179540" cy="2199533"/>
          </a:xfrm>
          <a:prstGeom prst="roundRect">
            <a:avLst>
              <a:gd name="adj" fmla="val 7738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75" name="Straight Arrow Connector 2074">
            <a:extLst>
              <a:ext uri="{FF2B5EF4-FFF2-40B4-BE49-F238E27FC236}">
                <a16:creationId xmlns:a16="http://schemas.microsoft.com/office/drawing/2014/main" id="{FE7ED566-D993-4143-5DA3-9F0FF84D78AC}"/>
              </a:ext>
            </a:extLst>
          </p:cNvPr>
          <p:cNvCxnSpPr>
            <a:cxnSpLocks/>
            <a:stCxn id="2066" idx="2"/>
            <a:endCxn id="2068" idx="0"/>
          </p:cNvCxnSpPr>
          <p:nvPr/>
        </p:nvCxnSpPr>
        <p:spPr>
          <a:xfrm>
            <a:off x="1189528" y="4550917"/>
            <a:ext cx="6139" cy="2391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77" name="Straight Arrow Connector 2076">
            <a:extLst>
              <a:ext uri="{FF2B5EF4-FFF2-40B4-BE49-F238E27FC236}">
                <a16:creationId xmlns:a16="http://schemas.microsoft.com/office/drawing/2014/main" id="{A99D3D8C-19E2-00DA-14E4-E2ABC6491CB0}"/>
              </a:ext>
            </a:extLst>
          </p:cNvPr>
          <p:cNvCxnSpPr>
            <a:cxnSpLocks/>
            <a:stCxn id="2069" idx="2"/>
            <a:endCxn id="2070" idx="0"/>
          </p:cNvCxnSpPr>
          <p:nvPr/>
        </p:nvCxnSpPr>
        <p:spPr>
          <a:xfrm flipH="1">
            <a:off x="3280528" y="4550917"/>
            <a:ext cx="1" cy="2391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082" name="Picture 2081">
            <a:extLst>
              <a:ext uri="{FF2B5EF4-FFF2-40B4-BE49-F238E27FC236}">
                <a16:creationId xmlns:a16="http://schemas.microsoft.com/office/drawing/2014/main" id="{981AD7A3-796B-94B4-3664-3CBAF7D00065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42000"/>
          </a:blip>
          <a:stretch>
            <a:fillRect/>
          </a:stretch>
        </p:blipFill>
        <p:spPr>
          <a:xfrm>
            <a:off x="4519742" y="3698169"/>
            <a:ext cx="7479825" cy="207099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2083" name="Right Arrow 2082">
            <a:extLst>
              <a:ext uri="{FF2B5EF4-FFF2-40B4-BE49-F238E27FC236}">
                <a16:creationId xmlns:a16="http://schemas.microsoft.com/office/drawing/2014/main" id="{439B8325-E7FA-0B24-C6E9-C3E52009BD22}"/>
              </a:ext>
            </a:extLst>
          </p:cNvPr>
          <p:cNvSpPr/>
          <p:nvPr/>
        </p:nvSpPr>
        <p:spPr>
          <a:xfrm>
            <a:off x="4235234" y="3611546"/>
            <a:ext cx="789974" cy="175653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4" name="Rounded Rectangle 2083">
            <a:extLst>
              <a:ext uri="{FF2B5EF4-FFF2-40B4-BE49-F238E27FC236}">
                <a16:creationId xmlns:a16="http://schemas.microsoft.com/office/drawing/2014/main" id="{6BC13C09-9EC8-44D4-5E05-5C77B380013A}"/>
              </a:ext>
            </a:extLst>
          </p:cNvPr>
          <p:cNvSpPr/>
          <p:nvPr/>
        </p:nvSpPr>
        <p:spPr>
          <a:xfrm>
            <a:off x="6635677" y="3774897"/>
            <a:ext cx="3996928" cy="1547259"/>
          </a:xfrm>
          <a:prstGeom prst="roundRect">
            <a:avLst>
              <a:gd name="adj" fmla="val 7738"/>
            </a:avLst>
          </a:prstGeom>
          <a:solidFill>
            <a:schemeClr val="bg2">
              <a:lumMod val="90000"/>
              <a:alpha val="43658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</a:t>
            </a:r>
            <a:r>
              <a:rPr lang="en-US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Emissions 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calculation</a:t>
            </a:r>
          </a:p>
        </p:txBody>
      </p:sp>
      <p:sp>
        <p:nvSpPr>
          <p:cNvPr id="2085" name="TextBox 2084">
            <a:extLst>
              <a:ext uri="{FF2B5EF4-FFF2-40B4-BE49-F238E27FC236}">
                <a16:creationId xmlns:a16="http://schemas.microsoft.com/office/drawing/2014/main" id="{13DDCA42-4420-7525-622C-B91A2A30835E}"/>
              </a:ext>
            </a:extLst>
          </p:cNvPr>
          <p:cNvSpPr txBox="1"/>
          <p:nvPr/>
        </p:nvSpPr>
        <p:spPr>
          <a:xfrm>
            <a:off x="275084" y="5273502"/>
            <a:ext cx="3919887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Cementitious Materials Catalogue</a:t>
            </a:r>
          </a:p>
        </p:txBody>
      </p:sp>
      <p:cxnSp>
        <p:nvCxnSpPr>
          <p:cNvPr id="2088" name="Elbow Connector 2087">
            <a:extLst>
              <a:ext uri="{FF2B5EF4-FFF2-40B4-BE49-F238E27FC236}">
                <a16:creationId xmlns:a16="http://schemas.microsoft.com/office/drawing/2014/main" id="{2AD4A3DC-8D5E-036C-A026-A88E03EDEB71}"/>
              </a:ext>
            </a:extLst>
          </p:cNvPr>
          <p:cNvCxnSpPr>
            <a:cxnSpLocks/>
            <a:stCxn id="2068" idx="3"/>
            <a:endCxn id="2085" idx="0"/>
          </p:cNvCxnSpPr>
          <p:nvPr/>
        </p:nvCxnSpPr>
        <p:spPr>
          <a:xfrm>
            <a:off x="1913565" y="4974746"/>
            <a:ext cx="321463" cy="298756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98" name="Elbow Connector 2097">
            <a:extLst>
              <a:ext uri="{FF2B5EF4-FFF2-40B4-BE49-F238E27FC236}">
                <a16:creationId xmlns:a16="http://schemas.microsoft.com/office/drawing/2014/main" id="{3EE42005-4ECF-516D-74F4-98222BFDC825}"/>
              </a:ext>
            </a:extLst>
          </p:cNvPr>
          <p:cNvCxnSpPr>
            <a:cxnSpLocks/>
            <a:stCxn id="2070" idx="1"/>
            <a:endCxn id="2085" idx="0"/>
          </p:cNvCxnSpPr>
          <p:nvPr/>
        </p:nvCxnSpPr>
        <p:spPr>
          <a:xfrm rot="10800000" flipV="1">
            <a:off x="2235029" y="4974746"/>
            <a:ext cx="327601" cy="298756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05" name="TextBox 2104">
            <a:extLst>
              <a:ext uri="{FF2B5EF4-FFF2-40B4-BE49-F238E27FC236}">
                <a16:creationId xmlns:a16="http://schemas.microsoft.com/office/drawing/2014/main" id="{09C577D3-3E1C-FE8A-9789-769219A5F925}"/>
              </a:ext>
            </a:extLst>
          </p:cNvPr>
          <p:cNvSpPr txBox="1"/>
          <p:nvPr/>
        </p:nvSpPr>
        <p:spPr>
          <a:xfrm>
            <a:off x="6274920" y="2703755"/>
            <a:ext cx="220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CemSciBERT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103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35</Words>
  <Application>Microsoft Macintosh PowerPoint</Application>
  <PresentationFormat>Widescreen</PresentationFormat>
  <Paragraphs>24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Mohd Zaki</dc:creator>
  <cp:lastModifiedBy>Mohd Zaki</cp:lastModifiedBy>
  <cp:revision>2</cp:revision>
  <dcterms:created xsi:type="dcterms:W3CDTF">2026-03-15T17:42:35Z</dcterms:created>
  <dcterms:modified xsi:type="dcterms:W3CDTF">2026-03-15T18:43:10Z</dcterms:modified>
</cp:coreProperties>
</file>