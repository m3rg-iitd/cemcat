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735" r:id="rId2"/>
    <p:sldId id="736" r:id="rId3"/>
    <p:sldId id="737" r:id="rId4"/>
    <p:sldId id="738" r:id="rId5"/>
    <p:sldId id="739" r:id="rId6"/>
    <p:sldId id="740" r:id="rId7"/>
    <p:sldId id="74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33"/>
  </p:normalViewPr>
  <p:slideViewPr>
    <p:cSldViewPr snapToGrid="0" snapToObjects="1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652C1-183E-C94B-A0C3-995A8DCB07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771FA-0552-2C42-99F5-F7DED3BA2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4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Sampled 50 tables and identified types of 121 compositions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Total papers ~36,572</a:t>
            </a:r>
          </a:p>
          <a:p>
            <a:endParaRPr lang="en-US"/>
          </a:p>
          <a:p>
            <a:r>
              <a:rPr lang="en-US"/>
              <a:t>Total compositions ~ 35,000</a:t>
            </a:r>
          </a:p>
          <a:p>
            <a:r>
              <a:rPr lang="en-US"/>
              <a:t>cement = 14,700</a:t>
            </a:r>
          </a:p>
          <a:p>
            <a:r>
              <a:rPr lang="en-US"/>
              <a:t>slag = 5,950</a:t>
            </a:r>
          </a:p>
          <a:p>
            <a:r>
              <a:rPr lang="en-US" err="1"/>
              <a:t>flyash</a:t>
            </a:r>
            <a:r>
              <a:rPr lang="en-US"/>
              <a:t> = 5,250</a:t>
            </a:r>
          </a:p>
          <a:p>
            <a:r>
              <a:rPr lang="en-US"/>
              <a:t>silica fume = 1750</a:t>
            </a:r>
          </a:p>
          <a:p>
            <a:r>
              <a:rPr lang="en-US"/>
              <a:t>others include clays, limestone, tailings, mixtures = 6,650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54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</a:lstStyle>
          <a:p>
            <a:r>
              <a:t>Click to edit Master subtitle style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C0D1340-8DE7-504F-B018-61DF34E0C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18497777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body" idx="1"/>
          </p:nvPr>
        </p:nvSpPr>
        <p:spPr>
          <a:xfrm>
            <a:off x="639336" y="1874837"/>
            <a:ext cx="10972800" cy="4525964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036CB-448A-9340-B2CA-E632F36F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8CCEB58-4306-7546-A57E-11EDCEB34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32720160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6" name="Shape 46"/>
          <p:cNvSpPr>
            <a:spLocks noGrp="1"/>
          </p:cNvSpPr>
          <p:nvPr>
            <p:ph type="body" sz="half" idx="1"/>
          </p:nvPr>
        </p:nvSpPr>
        <p:spPr>
          <a:xfrm>
            <a:off x="609600" y="1200152"/>
            <a:ext cx="5384800" cy="3394076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D3B12BE-C682-D947-84B0-71FBAC1AE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360508125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r>
              <a:t>Click to edit Master text styles</a:t>
            </a:r>
          </a:p>
        </p:txBody>
      </p:sp>
      <p:sp>
        <p:nvSpPr>
          <p:cNvPr id="56" name="Shape 56"/>
          <p:cNvSpPr>
            <a:spLocks noGrp="1"/>
          </p:cNvSpPr>
          <p:nvPr>
            <p:ph type="body" sz="quarter" idx="13"/>
          </p:nvPr>
        </p:nvSpPr>
        <p:spPr>
          <a:xfrm>
            <a:off x="6193371" y="1535113"/>
            <a:ext cx="5389035" cy="63976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04F9F2B0-0646-904D-8A3A-2B6E24B90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1247604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C123D7D-CA0F-A042-830B-D16B43AEB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236123965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5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1" name="Shape 81"/>
          <p:cNvSpPr>
            <a:spLocks noGrp="1"/>
          </p:cNvSpPr>
          <p:nvPr>
            <p:ph type="body" sz="half" idx="13"/>
          </p:nvPr>
        </p:nvSpPr>
        <p:spPr>
          <a:xfrm>
            <a:off x="609605" y="1435103"/>
            <a:ext cx="4011087" cy="46910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A3CB0CC4-A0A8-C341-B6E5-A2B04566C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417915210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89" name="Shape 89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1" cy="56674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90" name="Shape 90"/>
          <p:cNvSpPr>
            <a:spLocks noGrp="1"/>
          </p:cNvSpPr>
          <p:nvPr>
            <p:ph type="pic" sz="half" idx="13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body" sz="quarter" idx="1"/>
          </p:nvPr>
        </p:nvSpPr>
        <p:spPr>
          <a:xfrm>
            <a:off x="2389718" y="5367339"/>
            <a:ext cx="7315201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r>
              <a:t>Click to edit Master text styles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BB76D6E-3792-2E4E-B33F-0F679C3C7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167971572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xfrm>
            <a:off x="8839200" y="206376"/>
            <a:ext cx="2743200" cy="438785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609600" y="206376"/>
            <a:ext cx="8026400" cy="4387853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2FC31E4-CEB0-6440-A3F1-54B8906BE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+mn-lt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 dirty="0"/>
              <a:t>Synopsis Presentation – Machine Learning and Natural Language Processing for Construction Materials</a:t>
            </a:r>
          </a:p>
        </p:txBody>
      </p:sp>
    </p:spTree>
    <p:extLst>
      <p:ext uri="{BB962C8B-B14F-4D97-AF65-F5344CB8AC3E}">
        <p14:creationId xmlns:p14="http://schemas.microsoft.com/office/powerpoint/2010/main" val="10293373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5336-73E2-1C4A-8D83-5A35B71D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49C5FA-D41A-E347-A2A6-DC44033D6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8248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B983-5B29-9E4B-999E-D4D994C0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B3FBE5-5D98-2E42-9F6F-A73CF2F5F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1D01B-35CF-AB44-814F-06F17D35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Synopsis Presentation – Machine Learning and Natural Language Processing for Construction Materials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1652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987781" y="-31746"/>
            <a:ext cx="1106310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endParaRPr sz="1600"/>
          </a:p>
        </p:txBody>
      </p:sp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edit Master title style  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11718261" y="6571021"/>
            <a:ext cx="255837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00" b="0" i="0">
                <a:solidFill>
                  <a:srgbClr val="FFFFF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  <a:sym typeface="Verdana"/>
              </a:defRPr>
            </a:lvl1pPr>
          </a:lstStyle>
          <a:p>
            <a:fld id="{86CB4B4D-7CA3-9044-876B-883B54F8677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4072C5-DFF9-1440-9041-89E8EA263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32146"/>
            <a:ext cx="12192000" cy="325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  <a:latin typeface="+mn-lt"/>
                <a:ea typeface="SF Pro Display" pitchFamily="2" charset="0"/>
                <a:cs typeface="SF Pro Display" pitchFamily="2" charset="0"/>
              </a:defRPr>
            </a:lvl1pPr>
          </a:lstStyle>
          <a:p>
            <a:r>
              <a:rPr lang="en-US"/>
              <a:t>Synopsis Presentation – Machine Learning and Natural Language Processing for Construction Materials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0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med"/>
  <p:hf hdr="0" ftr="0" dt="0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 Medium" pitchFamily="2" charset="0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" pitchFamily="2" charset="0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" pitchFamily="2" charset="0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" pitchFamily="2" charset="0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" pitchFamily="2" charset="0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ea"/>
          <a:ea typeface="+mn-ea"/>
          <a:cs typeface="SF Pro Display" pitchFamily="2" charset="0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81209-D769-8849-A156-428C1F60864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IN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Display Medium" pitchFamily="2" charset="0"/>
                <a:ea typeface="SF Pro Display Medium" pitchFamily="2" charset="0"/>
                <a:cs typeface="SF Pro Display Medium" pitchFamily="2" charset="0"/>
                <a:sym typeface="Verdana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Display Medium" pitchFamily="2" charset="0"/>
              <a:ea typeface="SF Pro Display Medium" pitchFamily="2" charset="0"/>
              <a:cs typeface="SF Pro Display Medium" pitchFamily="2" charset="0"/>
              <a:sym typeface="Verdan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CDFA7F-8F9C-1F43-930D-E8E443E2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extraction from tables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4E91B-627C-A044-8C13-E9011CBE038B}"/>
              </a:ext>
            </a:extLst>
          </p:cNvPr>
          <p:cNvSpPr/>
          <p:nvPr/>
        </p:nvSpPr>
        <p:spPr>
          <a:xfrm>
            <a:off x="4049217" y="3911847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from research papers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1CFD0-5428-5D43-B53C-BBA14D691DC7}"/>
              </a:ext>
            </a:extLst>
          </p:cNvPr>
          <p:cNvSpPr/>
          <p:nvPr/>
        </p:nvSpPr>
        <p:spPr>
          <a:xfrm>
            <a:off x="2077653" y="5397227"/>
            <a:ext cx="1543291" cy="369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DiSCoMaT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F5E67-743B-C645-ACB6-6654312F61B8}"/>
              </a:ext>
            </a:extLst>
          </p:cNvPr>
          <p:cNvSpPr/>
          <p:nvPr/>
        </p:nvSpPr>
        <p:spPr>
          <a:xfrm>
            <a:off x="90699" y="2580379"/>
            <a:ext cx="1543291" cy="147732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Annotated dataset of tables with mineralogical composition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7A50B5-64F1-DE43-8497-CE6587043C41}"/>
              </a:ext>
            </a:extLst>
          </p:cNvPr>
          <p:cNvSpPr/>
          <p:nvPr/>
        </p:nvSpPr>
        <p:spPr>
          <a:xfrm>
            <a:off x="2069958" y="2718878"/>
            <a:ext cx="1543291" cy="1200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 classifier based on CemSciBERT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9DE48-30D5-0B4E-B0C8-24D0CE021CCC}"/>
              </a:ext>
            </a:extLst>
          </p:cNvPr>
          <p:cNvSpPr/>
          <p:nvPr/>
        </p:nvSpPr>
        <p:spPr>
          <a:xfrm>
            <a:off x="6028476" y="2855808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with mineralogical 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55F92-2B90-F64D-9A0B-5983874CC47A}"/>
              </a:ext>
            </a:extLst>
          </p:cNvPr>
          <p:cNvSpPr/>
          <p:nvPr/>
        </p:nvSpPr>
        <p:spPr>
          <a:xfrm>
            <a:off x="7996191" y="2711520"/>
            <a:ext cx="1543291" cy="1200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GPT-4 for extracting the mineralogical compositions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553F3E-0B95-844B-B2ED-5BE26567FD67}"/>
              </a:ext>
            </a:extLst>
          </p:cNvPr>
          <p:cNvSpPr/>
          <p:nvPr/>
        </p:nvSpPr>
        <p:spPr>
          <a:xfrm>
            <a:off x="6028476" y="4958867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with oxide compositions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D9A76C-FA76-6540-A4AC-1D8B332AECEC}"/>
              </a:ext>
            </a:extLst>
          </p:cNvPr>
          <p:cNvSpPr/>
          <p:nvPr/>
        </p:nvSpPr>
        <p:spPr>
          <a:xfrm>
            <a:off x="7996191" y="5097368"/>
            <a:ext cx="1543291" cy="646329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Rule based system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B88D25-9C1F-634C-A796-30D0812218A1}"/>
              </a:ext>
            </a:extLst>
          </p:cNvPr>
          <p:cNvSpPr/>
          <p:nvPr/>
        </p:nvSpPr>
        <p:spPr>
          <a:xfrm>
            <a:off x="10191806" y="5160857"/>
            <a:ext cx="1614159" cy="519348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26,830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F2FA25-086A-3542-B9FB-A4A6BE178B25}"/>
              </a:ext>
            </a:extLst>
          </p:cNvPr>
          <p:cNvSpPr/>
          <p:nvPr/>
        </p:nvSpPr>
        <p:spPr>
          <a:xfrm>
            <a:off x="10191806" y="3059367"/>
            <a:ext cx="1614159" cy="519348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6,210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D36A1-BEFA-244C-ADD3-06D98088DBDF}"/>
              </a:ext>
            </a:extLst>
          </p:cNvPr>
          <p:cNvSpPr/>
          <p:nvPr/>
        </p:nvSpPr>
        <p:spPr>
          <a:xfrm>
            <a:off x="10023676" y="1556008"/>
            <a:ext cx="1950421" cy="646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Extracted compositions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3F866-C236-704E-A0F5-C2E06B4BA092}"/>
              </a:ext>
            </a:extLst>
          </p:cNvPr>
          <p:cNvSpPr/>
          <p:nvPr/>
        </p:nvSpPr>
        <p:spPr>
          <a:xfrm>
            <a:off x="10023676" y="2671143"/>
            <a:ext cx="1950421" cy="369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Mineralogical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AA57CD-916C-F340-BCB1-F4447E43855D}"/>
              </a:ext>
            </a:extLst>
          </p:cNvPr>
          <p:cNvSpPr/>
          <p:nvPr/>
        </p:nvSpPr>
        <p:spPr>
          <a:xfrm>
            <a:off x="10023676" y="4771301"/>
            <a:ext cx="1950421" cy="369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Oxides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02F9CA-C5AB-AF40-9BF0-B95ABDB5E52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633990" y="3319042"/>
            <a:ext cx="435968" cy="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370018-BEB9-A44B-8277-6D0F363FCAE0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7571767" y="3311684"/>
            <a:ext cx="424424" cy="578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E0066D-70A5-CC4C-BA60-82FF454E20C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571767" y="5420531"/>
            <a:ext cx="424424" cy="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1A04D6-B684-2D43-BFAA-3AF30900F426}"/>
              </a:ext>
            </a:extLst>
          </p:cNvPr>
          <p:cNvCxnSpPr>
            <a:stCxn id="10" idx="3"/>
            <a:endCxn id="14" idx="2"/>
          </p:cNvCxnSpPr>
          <p:nvPr/>
        </p:nvCxnSpPr>
        <p:spPr>
          <a:xfrm>
            <a:off x="9539482" y="3311684"/>
            <a:ext cx="652324" cy="735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9CF976-79BD-6C47-9AE5-93E21FA772C8}"/>
              </a:ext>
            </a:extLst>
          </p:cNvPr>
          <p:cNvCxnSpPr>
            <a:stCxn id="12" idx="3"/>
            <a:endCxn id="13" idx="2"/>
          </p:cNvCxnSpPr>
          <p:nvPr/>
        </p:nvCxnSpPr>
        <p:spPr>
          <a:xfrm flipV="1">
            <a:off x="9539482" y="5420531"/>
            <a:ext cx="652324" cy="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9977CBA-CE56-8943-97C2-BBDCE690B4EF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>
            <a:off x="3613249" y="3319042"/>
            <a:ext cx="1207614" cy="592805"/>
          </a:xfrm>
          <a:prstGeom prst="bentConnector2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A60CED10-621E-9149-9510-F9E04792359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3620944" y="4835175"/>
            <a:ext cx="1199919" cy="746717"/>
          </a:xfrm>
          <a:prstGeom prst="bentConnector2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A7DABED1-B530-4742-A02B-8ACF87BA3FE3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5592508" y="3317472"/>
            <a:ext cx="435968" cy="1056039"/>
          </a:xfrm>
          <a:prstGeom prst="bentConnector3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1D8DB7F0-5227-2A48-A386-E28DC0F97095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5592508" y="4373511"/>
            <a:ext cx="435968" cy="1047020"/>
          </a:xfrm>
          <a:prstGeom prst="bentConnector3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" name="Table 17">
            <a:extLst>
              <a:ext uri="{FF2B5EF4-FFF2-40B4-BE49-F238E27FC236}">
                <a16:creationId xmlns:a16="http://schemas.microsoft.com/office/drawing/2014/main" id="{09B5E8C0-0849-BD40-91F8-F3C1A0D40BE8}"/>
              </a:ext>
            </a:extLst>
          </p:cNvPr>
          <p:cNvGraphicFramePr>
            <a:graphicFrameLocks noGrp="1"/>
          </p:cNvGraphicFramePr>
          <p:nvPr/>
        </p:nvGraphicFramePr>
        <p:xfrm>
          <a:off x="10023676" y="3750642"/>
          <a:ext cx="207762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542">
                  <a:extLst>
                    <a:ext uri="{9D8B030D-6E8A-4147-A177-3AD203B41FA5}">
                      <a16:colId xmlns:a16="http://schemas.microsoft.com/office/drawing/2014/main" val="729066718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1428998476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334987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0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9957"/>
                  </a:ext>
                </a:extLst>
              </a:tr>
            </a:tbl>
          </a:graphicData>
        </a:graphic>
      </p:graphicFrame>
      <p:graphicFrame>
        <p:nvGraphicFramePr>
          <p:cNvPr id="33" name="Table 17">
            <a:extLst>
              <a:ext uri="{FF2B5EF4-FFF2-40B4-BE49-F238E27FC236}">
                <a16:creationId xmlns:a16="http://schemas.microsoft.com/office/drawing/2014/main" id="{43CFDB4B-C884-4B48-A6EF-5F3E22F2BD2C}"/>
              </a:ext>
            </a:extLst>
          </p:cNvPr>
          <p:cNvGraphicFramePr>
            <a:graphicFrameLocks noGrp="1"/>
          </p:cNvGraphicFramePr>
          <p:nvPr/>
        </p:nvGraphicFramePr>
        <p:xfrm>
          <a:off x="10023676" y="5747799"/>
          <a:ext cx="207762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542">
                  <a:extLst>
                    <a:ext uri="{9D8B030D-6E8A-4147-A177-3AD203B41FA5}">
                      <a16:colId xmlns:a16="http://schemas.microsoft.com/office/drawing/2014/main" val="729066718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1428998476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334987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0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9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41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B68ECE-0819-8E49-9ACA-E30CFD1DC525}"/>
              </a:ext>
            </a:extLst>
          </p:cNvPr>
          <p:cNvSpPr/>
          <p:nvPr/>
        </p:nvSpPr>
        <p:spPr>
          <a:xfrm>
            <a:off x="4049217" y="3911847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from research papers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E79E99-0A8C-114E-A1E2-4126FE2CF457}"/>
              </a:ext>
            </a:extLst>
          </p:cNvPr>
          <p:cNvSpPr/>
          <p:nvPr/>
        </p:nvSpPr>
        <p:spPr>
          <a:xfrm>
            <a:off x="2077653" y="5397227"/>
            <a:ext cx="1543291" cy="369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DiSCoMaT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BA984F-B29C-DD44-A9A7-1EE65DF24527}"/>
              </a:ext>
            </a:extLst>
          </p:cNvPr>
          <p:cNvSpPr/>
          <p:nvPr/>
        </p:nvSpPr>
        <p:spPr>
          <a:xfrm>
            <a:off x="90699" y="2580379"/>
            <a:ext cx="1543291" cy="1477325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Annotated dataset of tables with mineralogical 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7DD36-5B22-F24E-BEAC-F747E2DBA16F}"/>
              </a:ext>
            </a:extLst>
          </p:cNvPr>
          <p:cNvSpPr/>
          <p:nvPr/>
        </p:nvSpPr>
        <p:spPr>
          <a:xfrm>
            <a:off x="2069958" y="2718878"/>
            <a:ext cx="1543291" cy="1200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 classifier based on CemSciBERT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F7EFDF-15BA-AF49-8B53-998C1FE2CFE5}"/>
              </a:ext>
            </a:extLst>
          </p:cNvPr>
          <p:cNvSpPr/>
          <p:nvPr/>
        </p:nvSpPr>
        <p:spPr>
          <a:xfrm>
            <a:off x="6028476" y="2855808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with mineralogical composition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20A271-783C-034E-A541-05BE38D73A67}"/>
              </a:ext>
            </a:extLst>
          </p:cNvPr>
          <p:cNvSpPr/>
          <p:nvPr/>
        </p:nvSpPr>
        <p:spPr>
          <a:xfrm>
            <a:off x="7996191" y="2711520"/>
            <a:ext cx="1543291" cy="1200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GPT-4 for extracting the mineralogical compositions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427C8E-DDF6-F74B-8C1C-95EEF791E773}"/>
              </a:ext>
            </a:extLst>
          </p:cNvPr>
          <p:cNvSpPr/>
          <p:nvPr/>
        </p:nvSpPr>
        <p:spPr>
          <a:xfrm>
            <a:off x="6028476" y="4958867"/>
            <a:ext cx="1543291" cy="92332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Tables with oxide compositions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830DB-8AA6-F446-A462-4F3257BD732A}"/>
              </a:ext>
            </a:extLst>
          </p:cNvPr>
          <p:cNvSpPr/>
          <p:nvPr/>
        </p:nvSpPr>
        <p:spPr>
          <a:xfrm>
            <a:off x="7996191" y="5097368"/>
            <a:ext cx="1543291" cy="646329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Rule based system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682779-6ED1-2A4E-94ED-F302E42934FA}"/>
              </a:ext>
            </a:extLst>
          </p:cNvPr>
          <p:cNvSpPr/>
          <p:nvPr/>
        </p:nvSpPr>
        <p:spPr>
          <a:xfrm>
            <a:off x="10191806" y="5160857"/>
            <a:ext cx="1614159" cy="519348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26,830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833153-D8F9-F04B-BAE5-1DD151F8E2CA}"/>
              </a:ext>
            </a:extLst>
          </p:cNvPr>
          <p:cNvSpPr/>
          <p:nvPr/>
        </p:nvSpPr>
        <p:spPr>
          <a:xfrm>
            <a:off x="10191806" y="3059367"/>
            <a:ext cx="1614159" cy="519348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6,210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F71B46-A5B2-A845-8281-3CA1B1D0D526}"/>
              </a:ext>
            </a:extLst>
          </p:cNvPr>
          <p:cNvSpPr/>
          <p:nvPr/>
        </p:nvSpPr>
        <p:spPr>
          <a:xfrm>
            <a:off x="10023676" y="1556008"/>
            <a:ext cx="1950421" cy="64632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Extracted compositions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203BD6-1201-5F49-A7F7-6F93EAEB0BEE}"/>
              </a:ext>
            </a:extLst>
          </p:cNvPr>
          <p:cNvSpPr/>
          <p:nvPr/>
        </p:nvSpPr>
        <p:spPr>
          <a:xfrm>
            <a:off x="10023676" y="2671143"/>
            <a:ext cx="1950421" cy="369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Mineralogical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261092-85AA-9543-A410-91F95155B19F}"/>
              </a:ext>
            </a:extLst>
          </p:cNvPr>
          <p:cNvSpPr/>
          <p:nvPr/>
        </p:nvSpPr>
        <p:spPr>
          <a:xfrm>
            <a:off x="10023676" y="4771301"/>
            <a:ext cx="1950421" cy="3693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Oxides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339B03-1BE4-2D43-A2E9-34FD55F55A3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633990" y="3319042"/>
            <a:ext cx="435968" cy="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5940A7-6763-244B-969D-2BE376A084A0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7571767" y="3311684"/>
            <a:ext cx="424424" cy="578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826045-012C-2248-BBFA-32ECFD9373A9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571767" y="5420531"/>
            <a:ext cx="424424" cy="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EA8465-2E13-7244-8DD8-F99695E24D61}"/>
              </a:ext>
            </a:extLst>
          </p:cNvPr>
          <p:cNvCxnSpPr>
            <a:stCxn id="12" idx="3"/>
            <a:endCxn id="16" idx="2"/>
          </p:cNvCxnSpPr>
          <p:nvPr/>
        </p:nvCxnSpPr>
        <p:spPr>
          <a:xfrm>
            <a:off x="9539482" y="3311684"/>
            <a:ext cx="652324" cy="735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3319ED-3A5C-1C4D-80BA-3526F2341DF7}"/>
              </a:ext>
            </a:extLst>
          </p:cNvPr>
          <p:cNvCxnSpPr>
            <a:stCxn id="14" idx="3"/>
            <a:endCxn id="15" idx="2"/>
          </p:cNvCxnSpPr>
          <p:nvPr/>
        </p:nvCxnSpPr>
        <p:spPr>
          <a:xfrm flipV="1">
            <a:off x="9539482" y="5420531"/>
            <a:ext cx="652324" cy="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B088DBC-0C99-6646-8A1A-0C47D1EDDC6B}"/>
              </a:ext>
            </a:extLst>
          </p:cNvPr>
          <p:cNvCxnSpPr>
            <a:cxnSpLocks/>
            <a:stCxn id="10" idx="3"/>
            <a:endCxn id="7" idx="0"/>
          </p:cNvCxnSpPr>
          <p:nvPr/>
        </p:nvCxnSpPr>
        <p:spPr>
          <a:xfrm>
            <a:off x="3613249" y="3319042"/>
            <a:ext cx="1207614" cy="592805"/>
          </a:xfrm>
          <a:prstGeom prst="bentConnector2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5F593434-E75C-964F-8B34-2E288562C352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3620944" y="4835175"/>
            <a:ext cx="1199919" cy="746717"/>
          </a:xfrm>
          <a:prstGeom prst="bentConnector2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520C908F-42F0-1C4A-94E6-5CC56DDC24CE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5592508" y="3317472"/>
            <a:ext cx="435968" cy="1056039"/>
          </a:xfrm>
          <a:prstGeom prst="bentConnector3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828CE5E4-4933-9A4F-A891-65D2C29211BF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5592508" y="4373511"/>
            <a:ext cx="435968" cy="1047020"/>
          </a:xfrm>
          <a:prstGeom prst="bentConnector3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9" name="Table 17">
            <a:extLst>
              <a:ext uri="{FF2B5EF4-FFF2-40B4-BE49-F238E27FC236}">
                <a16:creationId xmlns:a16="http://schemas.microsoft.com/office/drawing/2014/main" id="{0FBF93B5-468C-F34C-AA3F-B96B09B630E7}"/>
              </a:ext>
            </a:extLst>
          </p:cNvPr>
          <p:cNvGraphicFramePr>
            <a:graphicFrameLocks noGrp="1"/>
          </p:cNvGraphicFramePr>
          <p:nvPr/>
        </p:nvGraphicFramePr>
        <p:xfrm>
          <a:off x="10023676" y="3750642"/>
          <a:ext cx="207762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542">
                  <a:extLst>
                    <a:ext uri="{9D8B030D-6E8A-4147-A177-3AD203B41FA5}">
                      <a16:colId xmlns:a16="http://schemas.microsoft.com/office/drawing/2014/main" val="729066718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1428998476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334987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0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9957"/>
                  </a:ext>
                </a:extLst>
              </a:tr>
            </a:tbl>
          </a:graphicData>
        </a:graphic>
      </p:graphicFrame>
      <p:graphicFrame>
        <p:nvGraphicFramePr>
          <p:cNvPr id="30" name="Table 17">
            <a:extLst>
              <a:ext uri="{FF2B5EF4-FFF2-40B4-BE49-F238E27FC236}">
                <a16:creationId xmlns:a16="http://schemas.microsoft.com/office/drawing/2014/main" id="{71342E76-7FB7-4342-9448-E92268FB4E6C}"/>
              </a:ext>
            </a:extLst>
          </p:cNvPr>
          <p:cNvGraphicFramePr>
            <a:graphicFrameLocks noGrp="1"/>
          </p:cNvGraphicFramePr>
          <p:nvPr/>
        </p:nvGraphicFramePr>
        <p:xfrm>
          <a:off x="10023676" y="5747799"/>
          <a:ext cx="207762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542">
                  <a:extLst>
                    <a:ext uri="{9D8B030D-6E8A-4147-A177-3AD203B41FA5}">
                      <a16:colId xmlns:a16="http://schemas.microsoft.com/office/drawing/2014/main" val="729066718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1428998476"/>
                    </a:ext>
                  </a:extLst>
                </a:gridCol>
                <a:gridCol w="692542">
                  <a:extLst>
                    <a:ext uri="{9D8B030D-6E8A-4147-A177-3AD203B41FA5}">
                      <a16:colId xmlns:a16="http://schemas.microsoft.com/office/drawing/2014/main" val="334987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0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9957"/>
                  </a:ext>
                </a:extLst>
              </a:tr>
            </a:tbl>
          </a:graphicData>
        </a:graphic>
      </p:graphicFrame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58C644D-8A8A-EB42-A1A3-DF8F0353B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903" y="610305"/>
            <a:ext cx="1008694" cy="111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F7BD6D-4D7F-F341-8663-A86058B08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9" t="-1" r="7701" b="24638"/>
          <a:stretch/>
        </p:blipFill>
        <p:spPr bwMode="auto">
          <a:xfrm>
            <a:off x="135614" y="610306"/>
            <a:ext cx="902289" cy="111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BAFA693-0443-C24B-82D8-052B6A1DCAE1}"/>
              </a:ext>
            </a:extLst>
          </p:cNvPr>
          <p:cNvSpPr/>
          <p:nvPr/>
        </p:nvSpPr>
        <p:spPr>
          <a:xfrm>
            <a:off x="2652900" y="566806"/>
            <a:ext cx="1771616" cy="120032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Research papers corpus on construction materials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1DC959-8F74-3844-BD0B-083A298EB500}"/>
              </a:ext>
            </a:extLst>
          </p:cNvPr>
          <p:cNvCxnSpPr>
            <a:cxnSpLocks/>
            <a:stCxn id="1026" idx="3"/>
            <a:endCxn id="39" idx="1"/>
          </p:cNvCxnSpPr>
          <p:nvPr/>
        </p:nvCxnSpPr>
        <p:spPr>
          <a:xfrm>
            <a:off x="2046597" y="1166969"/>
            <a:ext cx="606303" cy="1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DBF8464-AB66-6C4A-84F4-B77FAE37F0CB}"/>
              </a:ext>
            </a:extLst>
          </p:cNvPr>
          <p:cNvSpPr/>
          <p:nvPr/>
        </p:nvSpPr>
        <p:spPr>
          <a:xfrm>
            <a:off x="5024891" y="982303"/>
            <a:ext cx="1771616" cy="36933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Calibri"/>
              </a:rPr>
              <a:t>CemSciBERT</a:t>
            </a:r>
          </a:p>
        </p:txBody>
      </p:sp>
    </p:spTree>
    <p:extLst>
      <p:ext uri="{BB962C8B-B14F-4D97-AF65-F5344CB8AC3E}">
        <p14:creationId xmlns:p14="http://schemas.microsoft.com/office/powerpoint/2010/main" val="2219439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9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0D5992-8BD9-0743-9889-DCE6386F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952500"/>
            <a:ext cx="116459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251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2A812F-169B-6D42-9872-F6C6409B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828"/>
            <a:ext cx="12192000" cy="511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24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7A5C87-9A86-C14A-85CF-1554C3D073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0F2B6-9887-B549-BF63-BF165971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27159" y="0"/>
            <a:ext cx="789062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9231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FA70E5-419A-5443-A73C-F81A19A7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104900"/>
            <a:ext cx="5689600" cy="464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550393-D6B3-AB4E-B7F8-765715B4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685" y="-23819"/>
            <a:ext cx="3517733" cy="3446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905C6A-3814-4A45-8448-CC135968B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19146" y="3411153"/>
            <a:ext cx="3490811" cy="34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7274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AE4AA5-1D83-3B4E-88BD-233C0258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2" y="514350"/>
            <a:ext cx="7632700" cy="582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D0D9B6-7D54-564A-9294-90EAB44E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72" y="2818267"/>
            <a:ext cx="5517314" cy="25804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91FC72-329E-C942-A6CA-1580FF76A6A0}"/>
              </a:ext>
            </a:extLst>
          </p:cNvPr>
          <p:cNvSpPr txBox="1"/>
          <p:nvPr/>
        </p:nvSpPr>
        <p:spPr>
          <a:xfrm>
            <a:off x="6739003" y="2367419"/>
            <a:ext cx="497283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Table 2: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wt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% of phases in clinkers</a:t>
            </a:r>
          </a:p>
        </p:txBody>
      </p:sp>
    </p:spTree>
    <p:extLst>
      <p:ext uri="{BB962C8B-B14F-4D97-AF65-F5344CB8AC3E}">
        <p14:creationId xmlns:p14="http://schemas.microsoft.com/office/powerpoint/2010/main" val="26436516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167</Words>
  <Application>Microsoft Macintosh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</vt:lpstr>
      <vt:lpstr>SF Pro Display</vt:lpstr>
      <vt:lpstr>SF Pro Display Medium</vt:lpstr>
      <vt:lpstr>1_Office Theme</vt:lpstr>
      <vt:lpstr>Information extraction from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 from tables</dc:title>
  <dc:creator>Mohd Zaki</dc:creator>
  <cp:lastModifiedBy>Mohd Zaki</cp:lastModifiedBy>
  <cp:revision>7</cp:revision>
  <dcterms:created xsi:type="dcterms:W3CDTF">2024-09-16T06:31:41Z</dcterms:created>
  <dcterms:modified xsi:type="dcterms:W3CDTF">2024-09-19T08:10:30Z</dcterms:modified>
</cp:coreProperties>
</file>